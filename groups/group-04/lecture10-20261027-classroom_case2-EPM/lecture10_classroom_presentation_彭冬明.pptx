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尊敬的老师、各位同学，大家好！我是第</a:t>
            </a:r>
            <a:r>
              <a:rPr lang="en-US" altLang="zh-CN"/>
              <a:t>04</a:t>
            </a:r>
            <a:r>
              <a:rPr lang="zh-CN" altLang="en-US"/>
              <a:t>组的彭冬明。今天我将围绕</a:t>
            </a:r>
            <a:r>
              <a:rPr lang="en-US" altLang="zh-CN"/>
              <a:t>10</a:t>
            </a:r>
            <a:r>
              <a:rPr lang="zh-CN" altLang="en-US"/>
              <a:t>万吨</a:t>
            </a:r>
            <a:r>
              <a:rPr lang="en-US" altLang="zh-CN"/>
              <a:t>/</a:t>
            </a:r>
            <a:r>
              <a:rPr lang="zh-CN" altLang="en-US"/>
              <a:t>年绿色甲醇示范线项目，为大家讲解环境规划与管理领域的多目标决策分析。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绿色甲醇项目同时受连续化工生产、波动性可再生电力、用水边界与产品碳足迹多重约束，不能仅聚焦单一部件升级。我们需将物料守恒、生命周期评估、成本测算与政策约束纳入同一决策框架，以绿电比例和驰放比为核心变量，开展系统性规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我们基于锚点</a:t>
            </a:r>
            <a:r>
              <a:rPr lang="en-US" altLang="zh-CN"/>
              <a:t> B </a:t>
            </a:r>
            <a:r>
              <a:rPr lang="zh-CN" altLang="en-US"/>
              <a:t>的流程图展示全链路物质与能量闭环逻辑，明确循环气为内部流转物，不重复计入外部输入。这套系统边界是后续所有物料衡算、碳足迹核算与经济性分析的核心基准。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要实现绿色甲醇的规模化落地，电力体系是核心支撑。课堂手册给出的临界绿电比例</a:t>
            </a:r>
            <a:r>
              <a:rPr lang="en-US" altLang="zh-CN"/>
              <a:t>53.4%</a:t>
            </a:r>
            <a:r>
              <a:rPr lang="zh-CN" altLang="en-US"/>
              <a:t>是基础门槛，但连续化工生产对供电稳定性要求极高，光伏间歇出力和设备连续运行的矛盾必须通过</a:t>
            </a:r>
            <a:r>
              <a:rPr lang="en-US" altLang="zh-CN"/>
              <a:t>“</a:t>
            </a:r>
            <a:r>
              <a:rPr lang="zh-CN" altLang="en-US"/>
              <a:t>绿电直供</a:t>
            </a:r>
            <a:r>
              <a:rPr lang="en-US" altLang="zh-CN"/>
              <a:t>+</a:t>
            </a:r>
            <a:r>
              <a:rPr lang="zh-CN" altLang="en-US"/>
              <a:t>柔性电解</a:t>
            </a:r>
            <a:r>
              <a:rPr lang="en-US" altLang="zh-CN"/>
              <a:t>+</a:t>
            </a:r>
            <a:r>
              <a:rPr lang="zh-CN" altLang="en-US"/>
              <a:t>储氢缓冲</a:t>
            </a:r>
            <a:r>
              <a:rPr lang="en-US" altLang="zh-CN"/>
              <a:t>”</a:t>
            </a:r>
            <a:r>
              <a:rPr lang="zh-CN" altLang="en-US"/>
              <a:t>的组合方案破解，否则设备利用率过低会大幅推高成本，抵消绿色甲醇的减排价值。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对比不同绿电占比的生命周期碳排放数据可见，</a:t>
            </a:r>
            <a:r>
              <a:rPr lang="en-US" altLang="zh-CN"/>
              <a:t>0%</a:t>
            </a:r>
            <a:r>
              <a:rPr lang="zh-CN" altLang="en-US"/>
              <a:t>绿电的电制甲醇碳排放远高于煤制甲醇基准，</a:t>
            </a:r>
            <a:r>
              <a:rPr lang="en-US" altLang="zh-CN"/>
              <a:t>65%</a:t>
            </a:r>
            <a:r>
              <a:rPr lang="zh-CN" altLang="en-US"/>
              <a:t>绿电已实现减排但仍未完全达标，</a:t>
            </a:r>
            <a:r>
              <a:rPr lang="en-US" altLang="zh-CN"/>
              <a:t>100%</a:t>
            </a:r>
            <a:r>
              <a:rPr lang="zh-CN" altLang="en-US"/>
              <a:t>绿电的锚点</a:t>
            </a:r>
            <a:r>
              <a:rPr lang="en-US" altLang="zh-CN"/>
              <a:t>B</a:t>
            </a:r>
            <a:r>
              <a:rPr lang="zh-CN" altLang="en-US"/>
              <a:t>方案实现净负碳。电力来源直接决定绿色甲醇的环境价值，只有全链路使用绿电，才能真正兑现减碳目标。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我们从</a:t>
            </a:r>
            <a:r>
              <a:rPr lang="en-US" altLang="zh-CN"/>
              <a:t>3000</a:t>
            </a:r>
            <a:r>
              <a:rPr lang="zh-CN" altLang="en-US"/>
              <a:t>组候选方案中筛选出三组核心决策锚点。对比三类方案的核心指标，锚点</a:t>
            </a:r>
            <a:r>
              <a:rPr lang="en-US" altLang="zh-CN"/>
              <a:t>B</a:t>
            </a:r>
            <a:r>
              <a:rPr lang="zh-CN" altLang="en-US"/>
              <a:t>实现了碳减排与成本控制的最优平衡。相比锚点</a:t>
            </a:r>
            <a:r>
              <a:rPr lang="en-US" altLang="zh-CN"/>
              <a:t>A</a:t>
            </a:r>
            <a:r>
              <a:rPr lang="zh-CN" altLang="en-US"/>
              <a:t>，锚点</a:t>
            </a:r>
            <a:r>
              <a:rPr lang="en-US" altLang="zh-CN"/>
              <a:t>B</a:t>
            </a:r>
            <a:r>
              <a:rPr lang="zh-CN" altLang="en-US"/>
              <a:t>每吨可多减排</a:t>
            </a:r>
            <a:r>
              <a:rPr lang="en-US" altLang="zh-CN"/>
              <a:t>28</a:t>
            </a:r>
            <a:r>
              <a:rPr lang="zh-CN" altLang="en-US"/>
              <a:t>千克二氧化碳；相比锚点</a:t>
            </a:r>
            <a:r>
              <a:rPr lang="en-US" altLang="zh-CN"/>
              <a:t>C</a:t>
            </a:r>
            <a:r>
              <a:rPr lang="zh-CN" altLang="en-US"/>
              <a:t>，每吨成本低</a:t>
            </a:r>
            <a:r>
              <a:rPr lang="en-US" altLang="zh-CN"/>
              <a:t>92</a:t>
            </a:r>
            <a:r>
              <a:rPr lang="zh-CN" altLang="en-US"/>
              <a:t>元，碳利用率达</a:t>
            </a:r>
            <a:r>
              <a:rPr lang="en-US" altLang="zh-CN"/>
              <a:t>93.92%</a:t>
            </a:r>
            <a:r>
              <a:rPr lang="zh-CN" altLang="en-US"/>
              <a:t>，更适合作为项目落地的折中基准方案。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锚点</a:t>
            </a:r>
            <a:r>
              <a:rPr lang="en-US" altLang="zh-CN"/>
              <a:t>B</a:t>
            </a:r>
            <a:r>
              <a:rPr lang="zh-CN" altLang="en-US"/>
              <a:t>确定</a:t>
            </a:r>
            <a:r>
              <a:rPr lang="en-US" altLang="zh-CN"/>
              <a:t>10</a:t>
            </a:r>
            <a:r>
              <a:rPr lang="zh-CN" altLang="en-US"/>
              <a:t>万吨</a:t>
            </a:r>
            <a:r>
              <a:rPr lang="en-US" altLang="zh-CN"/>
              <a:t>/</a:t>
            </a:r>
            <a:r>
              <a:rPr lang="zh-CN" altLang="en-US"/>
              <a:t>年甲醇生产规模，对应年捕集二氧化碳</a:t>
            </a:r>
            <a:r>
              <a:rPr lang="en-US" altLang="zh-CN"/>
              <a:t>14.624</a:t>
            </a:r>
            <a:r>
              <a:rPr lang="zh-CN" altLang="en-US"/>
              <a:t>万吨、电解绿氢</a:t>
            </a:r>
            <a:r>
              <a:rPr lang="en-US" altLang="zh-CN"/>
              <a:t>2.0097</a:t>
            </a:r>
            <a:r>
              <a:rPr lang="zh-CN" altLang="en-US"/>
              <a:t>万吨，配套年综合用电</a:t>
            </a:r>
            <a:r>
              <a:rPr lang="en-US" altLang="zh-CN"/>
              <a:t>1.093</a:t>
            </a:r>
            <a:r>
              <a:rPr lang="zh-CN" altLang="en-US"/>
              <a:t>太瓦时。</a:t>
            </a:r>
            <a:r>
              <a:rPr lang="en-US" altLang="zh-CN"/>
              <a:t>
</a:t>
            </a:r>
            <a:r>
              <a:rPr lang="zh-CN" altLang="en-US"/>
              <a:t>系统新鲜净补水</a:t>
            </a:r>
            <a:r>
              <a:rPr lang="en-US" altLang="zh-CN"/>
              <a:t>13.85</a:t>
            </a:r>
            <a:r>
              <a:rPr lang="zh-CN" altLang="en-US"/>
              <a:t>万吨</a:t>
            </a:r>
            <a:r>
              <a:rPr lang="en-US" altLang="zh-CN"/>
              <a:t>/</a:t>
            </a:r>
            <a:r>
              <a:rPr lang="zh-CN" altLang="en-US"/>
              <a:t>年，精馏水回用</a:t>
            </a:r>
            <a:r>
              <a:rPr lang="en-US" altLang="zh-CN"/>
              <a:t>5.6223</a:t>
            </a:r>
            <a:r>
              <a:rPr lang="zh-CN" altLang="en-US"/>
              <a:t>万吨，未反应气回流</a:t>
            </a:r>
            <a:r>
              <a:rPr lang="en-US" altLang="zh-CN"/>
              <a:t>45.8569</a:t>
            </a:r>
            <a:r>
              <a:rPr lang="zh-CN" altLang="en-US"/>
              <a:t>万吨，驰放比</a:t>
            </a:r>
            <a:r>
              <a:rPr lang="en-US" altLang="zh-CN"/>
              <a:t>2.157%</a:t>
            </a:r>
            <a:r>
              <a:rPr lang="zh-CN" altLang="en-US"/>
              <a:t>，正式设计前需统一物料衡算边界。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锚点</a:t>
            </a:r>
            <a:r>
              <a:rPr lang="en-US" altLang="zh-CN"/>
              <a:t>B</a:t>
            </a:r>
            <a:r>
              <a:rPr lang="zh-CN" altLang="en-US"/>
              <a:t>模型测算政策调整后甲醇单位成本为</a:t>
            </a:r>
            <a:r>
              <a:rPr lang="en-US" altLang="zh-CN"/>
              <a:t>2309.5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吨，项目隐含总投资约</a:t>
            </a:r>
            <a:r>
              <a:rPr lang="en-US" altLang="zh-CN"/>
              <a:t>14.88</a:t>
            </a:r>
            <a:r>
              <a:rPr lang="zh-CN" altLang="en-US"/>
              <a:t>亿元，该数据为模型反推值，并非审定工程概算。</a:t>
            </a:r>
            <a:r>
              <a:rPr lang="en-US" altLang="zh-CN"/>
              <a:t>
</a:t>
            </a:r>
            <a:r>
              <a:rPr lang="zh-CN" altLang="en-US"/>
              <a:t>单位成本结构中，综合电力成本占比最高达</a:t>
            </a:r>
            <a:r>
              <a:rPr lang="en-US" altLang="zh-CN"/>
              <a:t>1967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吨，资本年金摊销</a:t>
            </a:r>
            <a:r>
              <a:rPr lang="en-US" altLang="zh-CN"/>
              <a:t>1515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吨，捕集二氧化碳成本</a:t>
            </a:r>
            <a:r>
              <a:rPr lang="en-US" altLang="zh-CN"/>
              <a:t>380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吨，水与运维成本</a:t>
            </a:r>
            <a:r>
              <a:rPr lang="en-US" altLang="zh-CN"/>
              <a:t>350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吨，副产氧气可抵扣</a:t>
            </a:r>
            <a:r>
              <a:rPr lang="en-US" altLang="zh-CN"/>
              <a:t>322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吨成本。</a:t>
            </a:r>
            <a:r>
              <a:rPr lang="en-US" altLang="zh-CN"/>
              <a:t>
</a:t>
            </a:r>
            <a:r>
              <a:rPr lang="zh-CN" altLang="en-US"/>
              <a:t>电价敏感度为每上涨</a:t>
            </a:r>
            <a:r>
              <a:rPr lang="en-US" altLang="zh-CN"/>
              <a:t>0.01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千瓦时，单位成本上涨约</a:t>
            </a:r>
            <a:r>
              <a:rPr lang="en-US" altLang="zh-CN"/>
              <a:t>109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吨。所有补贴及收益均需现实核证后方可落地。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锚点</a:t>
            </a:r>
            <a:r>
              <a:rPr lang="en-US" altLang="zh-CN"/>
              <a:t>B</a:t>
            </a:r>
            <a:r>
              <a:rPr lang="zh-CN" altLang="en-US"/>
              <a:t>方案围绕</a:t>
            </a:r>
            <a:r>
              <a:rPr lang="en-US" altLang="zh-CN"/>
              <a:t>“</a:t>
            </a:r>
            <a:r>
              <a:rPr lang="zh-CN" altLang="en-US"/>
              <a:t>源</a:t>
            </a:r>
            <a:r>
              <a:rPr lang="en-US" altLang="zh-CN"/>
              <a:t>—</a:t>
            </a:r>
            <a:r>
              <a:rPr lang="zh-CN" altLang="en-US"/>
              <a:t>网</a:t>
            </a:r>
            <a:r>
              <a:rPr lang="en-US" altLang="zh-CN"/>
              <a:t>—</a:t>
            </a:r>
            <a:r>
              <a:rPr lang="zh-CN" altLang="en-US"/>
              <a:t>荷</a:t>
            </a:r>
            <a:r>
              <a:rPr lang="en-US" altLang="zh-CN"/>
              <a:t>—</a:t>
            </a:r>
            <a:r>
              <a:rPr lang="zh-CN" altLang="en-US"/>
              <a:t>储</a:t>
            </a:r>
            <a:r>
              <a:rPr lang="en-US" altLang="zh-CN"/>
              <a:t>—</a:t>
            </a:r>
            <a:r>
              <a:rPr lang="zh-CN" altLang="en-US"/>
              <a:t>化</a:t>
            </a:r>
            <a:r>
              <a:rPr lang="en-US" altLang="zh-CN"/>
              <a:t>”</a:t>
            </a:r>
            <a:r>
              <a:rPr lang="zh-CN" altLang="en-US"/>
              <a:t>核心逻辑统筹工程落地，对应搭建五大工程包。各项投资仅为模型量级估算，实际分项成本需结合现场数据与专项设计核定，氢区安全间距、应急池容量需通过专项风险评价最终确认。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近期主推锚点</a:t>
            </a:r>
            <a:r>
              <a:rPr lang="en-US" altLang="zh-CN"/>
              <a:t> B </a:t>
            </a:r>
            <a:r>
              <a:rPr lang="zh-CN" altLang="en-US"/>
              <a:t>作为方案比选基准，</a:t>
            </a:r>
            <a:r>
              <a:rPr lang="en-US" altLang="zh-CN"/>
              <a:t>100% </a:t>
            </a:r>
            <a:r>
              <a:rPr lang="zh-CN" altLang="en-US"/>
              <a:t>绿电、</a:t>
            </a:r>
            <a:r>
              <a:rPr lang="en-US" altLang="zh-CN"/>
              <a:t>2.157% </a:t>
            </a:r>
            <a:r>
              <a:rPr lang="zh-CN" altLang="en-US"/>
              <a:t>驰放比对应每吨甲醇负</a:t>
            </a:r>
            <a:r>
              <a:rPr lang="en-US" altLang="zh-CN"/>
              <a:t>1066</a:t>
            </a:r>
            <a:r>
              <a:rPr lang="zh-CN" altLang="en-US"/>
              <a:t>千克二氧化碳当量、</a:t>
            </a:r>
            <a:r>
              <a:rPr lang="en-US" altLang="zh-CN"/>
              <a:t>2309.5</a:t>
            </a:r>
            <a:r>
              <a:rPr lang="zh-CN" altLang="en-US"/>
              <a:t>元的调整后成本，是成本与减碳的最优折中。该方案不代表已具备项目核准条件，实施前必须完成四类核心核验。</a:t>
            </a:r>
            <a:r>
              <a:rPr lang="en-US" altLang="zh-CN"/>
              <a:t>
</a:t>
            </a:r>
            <a:r>
              <a:rPr lang="zh-CN" altLang="en-US"/>
              <a:t>核验覆盖电力供给、物料边界、水资源与安全环境四大维度，需确认逐时绿电供给与溯源能力、统一物料衡算边界、落实取水许可与回用水质、明确氢气与二氧化碳风险管控要求。</a:t>
            </a:r>
            <a:r>
              <a:rPr lang="en-US" altLang="zh-CN"/>
              <a:t>
</a:t>
            </a:r>
            <a:r>
              <a:rPr lang="zh-CN" altLang="en-US"/>
              <a:t>项目落地需建立计量</a:t>
            </a:r>
            <a:r>
              <a:rPr lang="en-US" altLang="zh-CN"/>
              <a:t>MRV</a:t>
            </a:r>
            <a:r>
              <a:rPr lang="zh-CN" altLang="en-US"/>
              <a:t>、合规审查、风险演练、</a:t>
            </a:r>
            <a:r>
              <a:rPr lang="en-US" altLang="zh-CN"/>
              <a:t>PDCA</a:t>
            </a:r>
            <a:r>
              <a:rPr lang="zh-CN" altLang="en-US"/>
              <a:t>动态修编的完整管理闭环，牢牢把握电力来源决定减碳成效、物料政策边界决定模型可信度、工程可行性由现场数据验证三大核心逻辑。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94360"/>
            <a:ext cx="5943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ENVIRONMENTAL PLANNING  /  LECTURE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640080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绿色甲醇示范线</a:t>
            </a:r>
          </a:p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环境规划与管理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71800"/>
            <a:ext cx="59436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碳捕集 × 绿氢 × 多目标决策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3767328"/>
            <a:ext cx="5934456" cy="9144"/>
          </a:xfrm>
          <a:prstGeom prst="line">
            <a:avLst/>
          </a:prstGeom>
          <a:ln w="12700">
            <a:solidFill>
              <a:srgbClr val="6E9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4041648"/>
            <a:ext cx="576072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以 10 万吨/年绿色甲醇项目为对象，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连接物质流、生命周期、经济性与政策约束。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108192"/>
            <a:ext cx="6217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《环境规划与管理》  |  2026 秋季学期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713232"/>
            <a:ext cx="4041648" cy="5413248"/>
          </a:xfrm>
          <a:prstGeom prst="rect">
            <a:avLst/>
          </a:prstGeom>
          <a:solidFill>
            <a:srgbClr val="214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024128"/>
            <a:ext cx="3337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规划设计基准  /  ANCHOR B</a:t>
            </a:r>
          </a:p>
        </p:txBody>
      </p:sp>
      <p:sp>
        <p:nvSpPr>
          <p:cNvPr id="11" name="TextBox 10"/>
          <p:cNvSpPr txBox="1"/>
          <p:nvPr>
            <p:custDataLst>
              <p:tags r:id="rId1"/>
            </p:custDataLst>
          </p:nvPr>
        </p:nvSpPr>
        <p:spPr>
          <a:xfrm>
            <a:off x="7818120" y="157276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E5B94F"/>
                </a:solidFill>
                <a:latin typeface="微软雅黑" panose="020B0503020204020204" charset="-122"/>
              </a:defRPr>
            </a:pPr>
            <a:r>
              <a:t>100,000</a:t>
            </a:r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7818120" y="204825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t/a</a:t>
            </a: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7818120" y="232257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甲醇产能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4" name="Connector 13"/>
          <p:cNvCxnSpPr/>
          <p:nvPr>
            <p:custDataLst>
              <p:tags r:id="rId4"/>
            </p:custDataLst>
          </p:nvPr>
        </p:nvCxnSpPr>
        <p:spPr>
          <a:xfrm>
            <a:off x="7818120" y="2761488"/>
            <a:ext cx="3246120" cy="9144"/>
          </a:xfrm>
          <a:prstGeom prst="line">
            <a:avLst/>
          </a:prstGeom>
          <a:ln w="12700">
            <a:solidFill>
              <a:srgbClr val="6E9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7818120" y="2971800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8CC9B5"/>
                </a:solidFill>
                <a:latin typeface="微软雅黑" panose="020B0503020204020204" charset="-122"/>
              </a:defRPr>
            </a:pPr>
            <a:r>
              <a:t>−1,066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7818120" y="3447288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kg CO₂e/t</a:t>
            </a: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7818120" y="3721608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净碳足迹</a:t>
            </a:r>
          </a:p>
        </p:txBody>
      </p:sp>
      <p:cxnSp>
        <p:nvCxnSpPr>
          <p:cNvPr id="18" name="Connector 17"/>
          <p:cNvCxnSpPr/>
          <p:nvPr>
            <p:custDataLst>
              <p:tags r:id="rId8"/>
            </p:custDataLst>
          </p:nvPr>
        </p:nvCxnSpPr>
        <p:spPr>
          <a:xfrm>
            <a:off x="7818120" y="4187952"/>
            <a:ext cx="3246120" cy="9144"/>
          </a:xfrm>
          <a:prstGeom prst="line">
            <a:avLst/>
          </a:prstGeom>
          <a:ln w="12700">
            <a:solidFill>
              <a:srgbClr val="6E9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7818120" y="440740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09969"/>
                </a:solidFill>
                <a:latin typeface="微软雅黑" panose="020B0503020204020204" charset="-122"/>
              </a:defRPr>
            </a:pPr>
            <a:r>
              <a:t>2,309.5</a:t>
            </a: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7818120" y="488289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元/t</a:t>
            </a: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7818120" y="515721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调整后 LCOM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870448"/>
            <a:ext cx="33375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C5D8D0"/>
                </a:solidFill>
                <a:latin typeface="微软雅黑" panose="020B0503020204020204" charset="-122"/>
              </a:defRPr>
            </a:pPr>
            <a:r>
              <a:t>模型情景值，非项目实测或审批结论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9935" y="4743450"/>
            <a:ext cx="6096000" cy="1139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>
              <a:lnSpc>
                <a:spcPct val="142000"/>
              </a:lnSpc>
            </a:pPr>
            <a:r>
              <a:rPr 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课程：环境规划与管理（2026 秋季学期）</a:t>
            </a:r>
            <a:endParaRPr lang="en-US" sz="1600" b="0" i="0" u="none" strike="noStrike" spc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marR="0" algn="l">
              <a:lnSpc>
                <a:spcPct val="142000"/>
              </a:lnSpc>
            </a:pPr>
            <a:r>
              <a:rPr 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汇报单位：第 04 组 彭冬明</a:t>
            </a:r>
            <a:endParaRPr lang="en-US" sz="1600" b="0" i="0" u="none" strike="noStrike" spc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marR="0" algn="l">
              <a:lnSpc>
                <a:spcPct val="142000"/>
              </a:lnSpc>
            </a:pPr>
            <a:r>
              <a:rPr 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汇报日期：2026 年 10 月 29 日</a:t>
            </a:r>
            <a:endParaRPr lang="en-US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01  /  PLANNING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为什么需要系统级规划？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749039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目标不是单独增加一台电解槽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7033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项目同时受连续化工生产、波动性可再生电力、用水边界与产品碳足迹约束。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82112"/>
            <a:ext cx="36576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3108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规划对象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22191"/>
            <a:ext cx="320040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大型煤化工园区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CO₂ 捕集 + PEM 制氢 + 甲醇合成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设计产能：100,000 t/a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6126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四类分析放进同一决策框架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901952"/>
            <a:ext cx="1298448" cy="548640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2029968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02536"/>
            <a:ext cx="4297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循环反应与物料守恒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743200"/>
            <a:ext cx="1298448" cy="548640"/>
          </a:xfrm>
          <a:prstGeom prst="rect">
            <a:avLst/>
          </a:prstGeom>
          <a:solidFill>
            <a:srgbClr val="4D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2871216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43784"/>
            <a:ext cx="4297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电力结构与产品 GWP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584448"/>
            <a:ext cx="1298448" cy="548640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3712463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85032"/>
            <a:ext cx="4297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成本、资本年金与 MAC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425696"/>
            <a:ext cx="1298448" cy="548640"/>
          </a:xfrm>
          <a:prstGeom prst="rect">
            <a:avLst/>
          </a:prstGeom>
          <a:solidFill>
            <a:srgbClr val="7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4553712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26280"/>
            <a:ext cx="4297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认证、碳、水与污染约束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532120"/>
            <a:ext cx="5943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决策变量：绿电比例 f_green × 循环气驰放比 r_purge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02  /  SYSTEM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从捕集到产品：物质与能量如何闭合？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pic>
        <p:nvPicPr>
          <p:cNvPr id="7" name="Picture 6" descr="fig1_mfa_process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360" y="1225296"/>
            <a:ext cx="8470231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318504"/>
            <a:ext cx="10607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锚点 B 流程图；循环气为内部物流，不重复计入外部输入。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03  /  POWER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绿电比例决定碳结果，供电稳定性决定装置能否运行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53312"/>
            <a:ext cx="5230368" cy="4407408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64208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课堂手册：煤电 / 光伏混合供电临界值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44805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x ≥ 53.4%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27248"/>
            <a:ext cx="452628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GWP_net(x) = 10,826 × (0.75 − 0.71x) − 1,423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需低于煤制甲醇基准 +2,600 kg CO₂e/t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" y="4343400"/>
            <a:ext cx="4389120" cy="9144"/>
          </a:xfrm>
          <a:prstGeom prst="line">
            <a:avLst/>
          </a:prstGeom>
          <a:ln w="12700">
            <a:solidFill>
              <a:srgbClr val="6E9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0976" y="4590288"/>
            <a:ext cx="452628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该临界值来自课堂手册参数，不等同于任务 3 锚点 B 的电力因子与优化模型。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44752"/>
            <a:ext cx="46177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化工连续运行与光伏间歇出力存在时间错配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572000" cy="2514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8,000 h/a  固定床合成的设计运行小时要求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A28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15%  无储能离网光伏供电时的设备利用率假设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02A28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6.67×  利用率下降导致单位产品设备年金摊销上升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8232" y="4956048"/>
            <a:ext cx="4617720" cy="768096"/>
          </a:xfrm>
          <a:prstGeom prst="rect">
            <a:avLst/>
          </a:prstGeom>
          <a:solidFill>
            <a:srgbClr val="E5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5129784"/>
            <a:ext cx="420624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绿电直供 + 柔性电解 + 储氢缓冲 + 合成端稳态运行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04  /  LIFECYCLE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高碳电力会抵消电制甲醇的减排收益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同一任务 3 循环工况下仅改变电力结构；煤制甲醇为独立行业对照基准。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41276" y="1874519"/>
            <a:ext cx="0" cy="3474721"/>
          </a:xfrm>
          <a:prstGeom prst="line">
            <a:avLst/>
          </a:prstGeom>
          <a:ln w="1270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048256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煤制甲醇基准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2576"/>
            <a:ext cx="2240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行业对照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41276" y="2011680"/>
            <a:ext cx="3017520" cy="310896"/>
          </a:xfrm>
          <a:prstGeom prst="rect">
            <a:avLst/>
          </a:prstGeom>
          <a:solidFill>
            <a:srgbClr val="7C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0236" y="2029968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+2,600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25496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非绿电对照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9816"/>
            <a:ext cx="2240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0% 绿电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41276" y="2788920"/>
            <a:ext cx="5293414" cy="310896"/>
          </a:xfrm>
          <a:prstGeom prst="rect">
            <a:avLst/>
          </a:prstGeom>
          <a:solidFill>
            <a:srgbClr val="B8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26131" y="2807208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+4,561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02736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多能互补过渡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77056"/>
            <a:ext cx="2240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65% 绿电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1276" y="3566160"/>
            <a:ext cx="1048460" cy="310896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1177" y="3584448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+903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79976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锚点 B 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54296"/>
            <a:ext cx="2240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100% 绿电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4000" y="4343400"/>
            <a:ext cx="1237276" cy="310896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361688"/>
            <a:ext cx="822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-1,066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80692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06372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-1,000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41276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66956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01861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27541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+1,000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62446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88126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+2,000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23030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48710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+3,000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83615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09295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+4,000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44200" y="5413248"/>
            <a:ext cx="0" cy="91440"/>
          </a:xfrm>
          <a:prstGeom prst="line">
            <a:avLst/>
          </a:prstGeom>
          <a:ln w="7620">
            <a:solidFill>
              <a:srgbClr val="9B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469880" y="5559552"/>
            <a:ext cx="6217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+5,000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824728"/>
            <a:ext cx="32918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GWP · kg CO₂e / t 甲醇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126480"/>
            <a:ext cx="10515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模型结果受排放因子、捕集碳信用和系统边界影响，不替代园区实测清单或第三方核查。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05  /  MULTI-OBJECTIVE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锚点 B：在成本与净碳足迹之间选取折中方案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pic>
        <p:nvPicPr>
          <p:cNvPr id="7" name="Picture 6" descr="fig2_pareto_decision_fronti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3490"/>
            <a:ext cx="6510528" cy="26910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23560"/>
            <a:ext cx="6309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3,000 组候选 → 政策筛除 → 非支配前沿 → 理想点距离选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89888"/>
            <a:ext cx="4206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三大决策锚点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1097280" cy="36576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1911095"/>
            <a:ext cx="1042415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828800"/>
            <a:ext cx="749808" cy="36576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1911095"/>
            <a:ext cx="69494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驰放比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62288" y="1828800"/>
            <a:ext cx="731520" cy="36576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911095"/>
            <a:ext cx="67665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93808" y="1828800"/>
            <a:ext cx="960120" cy="36576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911095"/>
            <a:ext cx="90525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212848"/>
            <a:ext cx="35387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2350008"/>
            <a:ext cx="1042415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A 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350008"/>
            <a:ext cx="69494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0.84%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350008"/>
            <a:ext cx="6766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−1,038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350008"/>
            <a:ext cx="9052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2,235.9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788920"/>
            <a:ext cx="3538728" cy="502920"/>
          </a:xfrm>
          <a:prstGeom prst="rect">
            <a:avLst/>
          </a:prstGeom>
          <a:solidFill>
            <a:srgbClr val="E0EBE3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1" y="2926079"/>
            <a:ext cx="1042415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B 拐点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2926079"/>
            <a:ext cx="69494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2.16%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926079"/>
            <a:ext cx="6766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−1,066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926079"/>
            <a:ext cx="9052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2,309.5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364991"/>
            <a:ext cx="353872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3502151"/>
            <a:ext cx="1042415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C 深度减碳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1" y="3502151"/>
            <a:ext cx="69494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3.50%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502151"/>
            <a:ext cx="6766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−1,092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502151"/>
            <a:ext cx="9052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2,401.6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160520"/>
            <a:ext cx="4069080" cy="109728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4370832"/>
            <a:ext cx="370332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 对 A：GWP 再降约 28 kg/t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 对 C：成本低约 92 元/t，碳利用率更高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96128"/>
            <a:ext cx="41148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锚点 B 碳利用率 93.92%；各数值均为模型输出。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06  /  ENGINEERING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锚点 B 的年通量：10 万吨产能对应的系统规模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23317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t/a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甲醇产品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317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6420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4D9A9A"/>
                </a:solidFill>
                <a:latin typeface="微软雅黑" panose="020B0503020204020204" charset="-122"/>
              </a:defRPr>
            </a:pPr>
            <a:r>
              <a:t>146,240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3969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t/a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1401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新鲜捕集 CO₂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1463040"/>
            <a:ext cx="23317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66420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20,097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13969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t/a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41401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电解绿氢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1463040"/>
            <a:ext cx="233172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664208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1.093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139696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TWh/a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414016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综合用电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383280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水与循环物流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3950208"/>
            <a:ext cx="10405872" cy="9144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4400" y="3767328"/>
            <a:ext cx="146304" cy="402336"/>
          </a:xfrm>
          <a:prstGeom prst="rect">
            <a:avLst/>
          </a:prstGeom>
          <a:solidFill>
            <a:srgbClr val="4D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61104"/>
            <a:ext cx="233172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D9A9A"/>
                </a:solidFill>
                <a:latin typeface="微软雅黑" panose="020B0503020204020204" charset="-122"/>
              </a:defRPr>
            </a:pPr>
            <a:r>
              <a:t>138,500 t/a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45152"/>
            <a:ext cx="2331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新鲜净补水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767328"/>
            <a:ext cx="146304" cy="402336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261104"/>
            <a:ext cx="233172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56,223 t/a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645152"/>
            <a:ext cx="2331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精馏水回用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67328"/>
            <a:ext cx="146304" cy="402336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61104"/>
            <a:ext cx="233172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458,569 t/a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45152"/>
            <a:ext cx="2331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未反应气回流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767328"/>
            <a:ext cx="146304" cy="402336"/>
          </a:xfrm>
          <a:prstGeom prst="rect">
            <a:avLst/>
          </a:prstGeom>
          <a:solidFill>
            <a:srgbClr val="B8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261104"/>
            <a:ext cx="233172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B85645"/>
                </a:solidFill>
                <a:latin typeface="微软雅黑" panose="020B0503020204020204" charset="-122"/>
              </a:defRPr>
            </a:pPr>
            <a:r>
              <a:t>2.157%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645152"/>
            <a:ext cx="2331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驰放比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358384"/>
            <a:ext cx="10607040" cy="521207"/>
          </a:xfrm>
          <a:prstGeom prst="rect">
            <a:avLst/>
          </a:prstGeom>
          <a:solidFill>
            <a:srgbClr val="E8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513832"/>
            <a:ext cx="101498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任务 1 默认 1.0% 驰放比与锚点 B 不同；正式设计前须统一物料衡算边界。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07  /  TECHNO-ECONOMICS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经济性结论必须区分模型成本与工程概算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3703320" cy="4480560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73352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锚点 B  ·  经济基准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2240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09969"/>
                </a:solidFill>
                <a:latin typeface="微软雅黑" panose="020B0503020204020204" charset="-122"/>
              </a:defRPr>
            </a:pPr>
            <a:r>
              <a:t>2,309.5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24328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元/t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98648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政策调整后 LCOM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" y="3401568"/>
            <a:ext cx="3035807" cy="9144"/>
          </a:xfrm>
          <a:prstGeom prst="line">
            <a:avLst/>
          </a:prstGeom>
          <a:ln w="12700">
            <a:solidFill>
              <a:srgbClr val="6E9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" y="3657600"/>
            <a:ext cx="30632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模型隐含总 CAPEX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78224"/>
            <a:ext cx="306324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E5B94F"/>
                </a:solidFill>
                <a:latin typeface="微软雅黑" panose="020B0503020204020204" charset="-122"/>
              </a:defRPr>
            </a:pPr>
            <a:r>
              <a:t>约 14.88 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828032"/>
            <a:ext cx="3063240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由资本年金反推，非项目审定概算；工程分项投资与 OPEX 尚未输出。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1444752"/>
            <a:ext cx="5760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LCOM 构成（元/t）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2011680"/>
            <a:ext cx="126187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综合电力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75104"/>
            <a:ext cx="3147273" cy="292608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8" y="2002536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+1,967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615184"/>
            <a:ext cx="126187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资本年金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78608"/>
            <a:ext cx="2424623" cy="292608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2606040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+1,515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3218688"/>
            <a:ext cx="126187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捕集 CO₂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182112"/>
            <a:ext cx="608396" cy="292608"/>
          </a:xfrm>
          <a:prstGeom prst="rect">
            <a:avLst/>
          </a:prstGeom>
          <a:solidFill>
            <a:srgbClr val="4D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3209544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+380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3822192"/>
            <a:ext cx="126187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水与运维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85616"/>
            <a:ext cx="560069" cy="292608"/>
          </a:xfrm>
          <a:prstGeom prst="rect">
            <a:avLst/>
          </a:prstGeom>
          <a:solidFill>
            <a:srgbClr val="7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3813048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+350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4425696"/>
            <a:ext cx="126187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副产氧收益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389120"/>
            <a:ext cx="514464" cy="292608"/>
          </a:xfrm>
          <a:prstGeom prst="rect">
            <a:avLst/>
          </a:prstGeom>
          <a:solidFill>
            <a:srgbClr val="B85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4416552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-322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6048" y="5138928"/>
            <a:ext cx="5989320" cy="566928"/>
          </a:xfrm>
          <a:prstGeom prst="rect">
            <a:avLst/>
          </a:prstGeom>
          <a:solidFill>
            <a:srgbClr val="E8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5504" y="5285232"/>
            <a:ext cx="5486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WACC 8% · 20 年 · CRF 0.10185 · 电价每 +0.01 元/kWh，LCOM 约 +109 元/t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5888736"/>
            <a:ext cx="58978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补贴、绿色溢价、CCER 与氧气销售均需现实核证或合同支持。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08  /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工程落位按“源—网—荷—储—化”组织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1481328"/>
            <a:ext cx="1874519" cy="987552"/>
          </a:xfrm>
          <a:prstGeom prst="rect">
            <a:avLst/>
          </a:prstGeom>
          <a:solidFill>
            <a:srgbClr val="4D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碳源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捕集与压缩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596896"/>
            <a:ext cx="1783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邻近热电点源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224" y="1481328"/>
            <a:ext cx="1874519" cy="987552"/>
          </a:xfrm>
          <a:prstGeom prst="rect">
            <a:avLst/>
          </a:prstGeom>
          <a:solidFill>
            <a:srgbClr val="E5B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61848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电力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975104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绿电接入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96896"/>
            <a:ext cx="1783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资源与并网校核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2936" y="1481328"/>
            <a:ext cx="1874519" cy="987552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61848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制氢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975104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PEM + 储氢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2596896"/>
            <a:ext cx="1783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独立安全边界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0648" y="1481328"/>
            <a:ext cx="1874519" cy="987552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61848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合成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1975104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反应与循环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596896"/>
            <a:ext cx="1783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连续稳态运行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38360" y="1481328"/>
            <a:ext cx="1874519" cy="987552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61848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产品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1975104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精馏与回水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2596896"/>
            <a:ext cx="1783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产品外送 / 水回用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246120"/>
            <a:ext cx="10698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五项重点工程包  /  CAPEX、OPEX 分项待可研与 FEED 核定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94176"/>
            <a:ext cx="39319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694176"/>
            <a:ext cx="30175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CO₂ 捕集及压缩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694176"/>
            <a:ext cx="5349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14.624 万吨 CO₂/a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87368"/>
            <a:ext cx="39319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087368"/>
            <a:ext cx="30175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PEM 制氢及储氢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087368"/>
            <a:ext cx="5349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2.010 万吨 H₂/a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480560"/>
            <a:ext cx="39319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480560"/>
            <a:ext cx="30175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甲醇合成与循环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480560"/>
            <a:ext cx="5349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10 万吨产品/a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73752"/>
            <a:ext cx="39319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873752"/>
            <a:ext cx="30175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精馏及水回用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873752"/>
            <a:ext cx="5349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5.62 万吨回用水/a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266944"/>
            <a:ext cx="393192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96B3B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266944"/>
            <a:ext cx="301752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管廊与能碳 MRV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266944"/>
            <a:ext cx="5349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物流计量 / 绿电溯源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5852160"/>
            <a:ext cx="106984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总 CAPEX 14.88 亿元为模型量级估算；氢区间距与应急池容量须专项风险评价确认。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F6B59"/>
                </a:solidFill>
                <a:latin typeface="微软雅黑" panose="020B0503020204020204" charset="-122"/>
              </a:defRPr>
            </a:pPr>
            <a:r>
              <a:t>09  /  GOVERNANCE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近期主推锚点 B，但以工程核实和合规条件为前置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24128"/>
            <a:ext cx="11183112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环境规划与管理  /  第十讲课堂汇报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37960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5716D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49834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实施前四项核验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1170432" cy="429768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987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电力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911095"/>
            <a:ext cx="3657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100% 绿电的逐时供给、溯源与并网能力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96896"/>
            <a:ext cx="1170432" cy="429768"/>
          </a:xfrm>
          <a:prstGeom prst="rect">
            <a:avLst/>
          </a:prstGeom>
          <a:solidFill>
            <a:srgbClr val="2F6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79"/>
            <a:ext cx="987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物料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660903"/>
            <a:ext cx="3657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统一任务 1 / 任务 3 的进料及碳利用率边界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46704"/>
            <a:ext cx="1170432" cy="429768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987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水资源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3410712"/>
            <a:ext cx="3657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取水许可、枯水期保障与回用水质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96512"/>
            <a:ext cx="1170432" cy="429768"/>
          </a:xfrm>
          <a:prstGeom prst="rect">
            <a:avLst/>
          </a:prstGeom>
          <a:solidFill>
            <a:srgbClr val="D96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987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安全环境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4160520"/>
            <a:ext cx="36576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氢气 / CO₂ 风险、烟气基线与胺液废液控制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371600"/>
            <a:ext cx="5120640" cy="3127248"/>
          </a:xfrm>
          <a:prstGeom prst="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1682496"/>
            <a:ext cx="43891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B8D3C5"/>
                </a:solidFill>
                <a:latin typeface="微软雅黑" panose="020B0503020204020204" charset="-122"/>
              </a:defRPr>
            </a:pPr>
            <a:r>
              <a:t>结论  /  近期设计建议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2103120"/>
            <a:ext cx="429768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采用锚点 B 作为方案比选基准：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100% 绿电 · 2.157% 驰放比</a:t>
            </a:r>
          </a:p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−1,066 kg CO₂e/t · 2,309.5 元/t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3813048"/>
            <a:ext cx="4297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DE8E1"/>
                </a:solidFill>
                <a:latin typeface="微软雅黑" panose="020B0503020204020204" charset="-122"/>
              </a:defRPr>
            </a:pPr>
            <a:r>
              <a:t>目标折中不代表已具备项目核准条件。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93792"/>
            <a:ext cx="105613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73E36"/>
                </a:solidFill>
                <a:latin typeface="微软雅黑" panose="020B0503020204020204" charset="-122"/>
              </a:defRPr>
            </a:pPr>
            <a:r>
              <a:t>管理闭环：计量与 MRV  →  合规审查  →  风险演练  →  PDCA 动态修编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8096" y="5650992"/>
            <a:ext cx="10524744" cy="9144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852160"/>
            <a:ext cx="106984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02A28"/>
                </a:solidFill>
                <a:latin typeface="微软雅黑" panose="020B0503020204020204" charset="-122"/>
              </a:defRPr>
            </a:pPr>
            <a:r>
              <a:t>核心信息：电力来源决定减碳成效；物料与政策边界决定模型可信度；工程可行性须由现场数据和专项设计验证。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2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3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4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5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6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7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8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9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10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ags/tag11.xml><?xml version="1.0" encoding="utf-8"?>
<p:tagLst xmlns:p="http://schemas.openxmlformats.org/presentationml/2006/main">
  <p:tag name="KSO_WM_DIAGRAM_VIRTUALLY_FRAME" val="{&quot;height&quot;:312.47999999999996,&quot;left&quot;:615.6,&quot;top&quot;:123.84,&quot;width&quot;:25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2690</Words>
  <Application>WPS 演示</Application>
  <PresentationFormat>On-screen Show (4:3)</PresentationFormat>
  <Paragraphs>424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第十讲课堂汇报：绿色甲醇园区环境规划</dc:title>
  <dc:creator/>
  <dc:description>generated using python-pptx</dc:description>
  <dc:subject>MFA-LCA-TEA-Policy 综合决策</dc:subject>
  <cp:lastModifiedBy>彭冬明</cp:lastModifiedBy>
  <cp:revision>2</cp:revision>
  <dcterms:created xsi:type="dcterms:W3CDTF">2013-01-27T09:14:00Z</dcterms:created>
  <dcterms:modified xsi:type="dcterms:W3CDTF">2026-10-29T01:47:50Z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2878DCBC9DD348018A77EAAFFB273911_12</vt:lpwstr>
  </property>
</Properties>
</file>